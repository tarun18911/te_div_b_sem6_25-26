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1" r:id="rId3"/>
    <p:sldId id="262" r:id="rId4"/>
    <p:sldId id="263" r:id="rId5"/>
    <p:sldId id="265" r:id="rId6"/>
    <p:sldId id="266" r:id="rId7"/>
    <p:sldId id="264" r:id="rId8"/>
    <p:sldId id="272" r:id="rId9"/>
    <p:sldId id="257" r:id="rId10"/>
    <p:sldId id="268" r:id="rId11"/>
    <p:sldId id="276" r:id="rId12"/>
    <p:sldId id="277" r:id="rId13"/>
    <p:sldId id="278" r:id="rId14"/>
    <p:sldId id="273" r:id="rId15"/>
    <p:sldId id="274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1783" autoAdjust="0"/>
  </p:normalViewPr>
  <p:slideViewPr>
    <p:cSldViewPr snapToGrid="0">
      <p:cViewPr varScale="1">
        <p:scale>
          <a:sx n="69" d="100"/>
          <a:sy n="69" d="100"/>
        </p:scale>
        <p:origin x="1002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E2805-659C-4049-A025-C06A6733765B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49EDA-2974-440D-ADAF-2A92B86580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974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E8512-A82D-4984-B553-E3AF99D1D6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368999-F30E-4A04-A9E0-4150E7D167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BE3D1-9449-463E-8A3B-529F3DBAA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4A129-8BD5-4E1F-93E1-0E3BD6199CA9}" type="datetime1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9B0EB-B7D0-48C4-90B3-B37A61F51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/>
              <a:t>Mini Project Review 1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B7E62-C61F-4449-A976-BD29523C5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E2AE893-BA06-4F67-8C19-46525B8E0FB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541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D6242-091F-449C-A1B4-938978D83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17"/>
            <a:ext cx="10515600" cy="1092213"/>
          </a:xfrm>
        </p:spPr>
        <p:txBody>
          <a:bodyPr>
            <a:normAutofit/>
          </a:bodyPr>
          <a:lstStyle>
            <a:lvl1pPr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6425A-A42D-4509-B515-2D51013B8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30"/>
            <a:ext cx="10515600" cy="4948233"/>
          </a:xfrm>
        </p:spPr>
        <p:txBody>
          <a:bodyPr>
            <a:normAutofit/>
          </a:bodyPr>
          <a:lstStyle>
            <a:lvl1pPr>
              <a:lnSpc>
                <a:spcPts val="2880"/>
              </a:lnSpc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32000" indent="-228600">
              <a:lnSpc>
                <a:spcPts val="2880"/>
              </a:lnSpc>
              <a:buFont typeface="Courier New" panose="02070309020205020404" pitchFamily="49" charset="0"/>
              <a:buChar char="o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ts val="2880"/>
              </a:lnSpc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ts val="288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ts val="288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BB509-4540-4E93-AA58-85E51656F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FCA8F-69BB-4287-ACD0-EEC3E83FCD5E}" type="datetime1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9B8BF-AF22-4319-9B72-B64A51A4B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Mini Project Review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23BF1-675C-4B4B-A122-5DB11F6CA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1E2AE893-BA06-4F67-8C19-46525B8E0FB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370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F741D-242F-4DD8-8ACF-B39E45199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AF1F32-2D68-46E1-9E21-BE43A6262C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8ABCA9-1438-49CC-93A2-6A8DA39A3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9E176-8B6D-4C39-9EFB-31DFA9936092}" type="datetime1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BC973-DA06-400C-9147-AEEC78942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Mini Project Review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6FC47C-EAF5-4145-927D-556A6056A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364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279CE-73AF-4A65-8F2A-E38D2CA09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ADAF8-4366-4BEA-9041-88603E5F7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0860A5-D7DD-48F2-BC15-144C7592C5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C0731D-2FCB-4F68-B2C7-BE66A2E29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1BE7-7502-4858-9603-E60C6067F641}" type="datetime1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3CF6C-F341-42CF-965F-3E9908EF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Mini Project Review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68428-2FF9-43C7-9A62-D6810EF5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7667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D8F11-D661-4D7C-B659-DA6176A0D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02A87-0885-4B96-9AED-0B6E3BB7A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B794E-C910-4195-8A30-413CF9380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190526-A9CF-4398-B832-63B597FDF3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EDD138-DEFB-40D4-9AA4-41847992B6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0743CA-E3D2-4835-B10C-FA5B9B9C3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1A27-7A90-4EEA-8CC6-1143C5C6E922}" type="datetime1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6FB835-2539-4883-9787-E64CC2DA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Mini Project Review 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F684C8-037C-4452-ABB7-92BBDE509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172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C75A5-2A7F-4DB4-9962-B5792F9E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6AE9D-EE96-4771-83A2-5BF8F5DC2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CFAB5-F7AB-4027-A8F2-F7C2878B270D}" type="datetime1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3A682E-6487-4631-9316-CDE297D2D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Mini Project Review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28DE16-03A0-4ED2-BA9C-5C5D47B73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515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4CEFFA-2A39-4C3B-96BB-18040761A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3F31E-C73D-490B-A933-AC88355AA686}" type="datetime1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0C37D-52EB-4E53-898D-1376E40A1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Mini Project Review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DDA51-5956-47BC-87E2-2CF554F1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9044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EAA3C-A24F-471A-8267-06D5B46DF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2DF64-9912-40FF-8BC6-E608B5722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F8640-04C8-4497-8A02-7AC722C0EA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EE400C-F2AC-417D-BA01-D9D1A9D1D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E5C8BE-B5A5-46F0-86EC-96F7B74CCDF0}" type="datetime1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344E5-F495-4E79-BBE3-05864E6A0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Mini Project Review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09799-0F22-4DD7-B2CB-6C8BD2A3E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35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F38E1-65F3-4C2C-A7D2-186FDA67A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07F5D5-4B9E-4372-B1F8-AEC922FBA1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E87FE8-2809-4727-BBCE-02D7427C6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8AFC0-6367-47C8-8D4D-12DE9CF4A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B31080-9156-4791-B666-A8EB17F47730}" type="datetime1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376D9A-206C-46FC-9239-A4C107F2F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Mini Project Review 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34B08-15FB-4647-B234-CEEA5998E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26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A8B9D-AA0C-49E7-9061-E087B211E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47E5B1-7A21-473A-8B06-4C8D46A518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19D0A-ED9B-4A3F-9621-DBB81E063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0DF70-C1E3-469E-B271-957C69A1C7E1}" type="datetime1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4C906-9F98-44BF-8341-AE01AF335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Mini Project Review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FAB91-9863-46B5-9BD5-9D84B453C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1094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FE9C11-F275-49C9-B1C0-9668171A89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8149CA-13A0-4A44-9636-65A3B017F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6154C-FC5C-484C-B5F0-860AF694C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6F007-1A2A-4EDD-9D83-0EEF734CF001}" type="datetime1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062DB-0F3F-4D15-A7F7-DB8CFBFB8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Mini Project Review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532E6-E7FC-4A4A-A987-98523D1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085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82AD4-410A-4840-81E8-81032BA02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274687-D91C-4052-AF87-2BAD4872A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96928-B6A4-4FBB-B483-05FAACA9B0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5F8AF6-70A7-4520-B08E-B9627FE93972}" type="datetime1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2E10B-2832-47E1-B8B8-2F3D3ABDD8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Mini Project Review 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9D8F6-E224-474F-A06A-581CB18B1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AE893-BA06-4F67-8C19-46525B8E0F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5748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ultralytics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BA7452-B1FD-4787-9AD6-8F1626538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167" y="84665"/>
            <a:ext cx="6073666" cy="11507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F5F8CD-2E11-44A0-9D8E-7114C74E3E7E}"/>
              </a:ext>
            </a:extLst>
          </p:cNvPr>
          <p:cNvSpPr txBox="1"/>
          <p:nvPr/>
        </p:nvSpPr>
        <p:spPr>
          <a:xfrm>
            <a:off x="2306782" y="1356026"/>
            <a:ext cx="796982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MEAL COACH : A NUTRITION DIET/RECOMMENDATION SYSTEM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68E39C-376B-4992-9C7D-1A0C9D2517FC}"/>
              </a:ext>
            </a:extLst>
          </p:cNvPr>
          <p:cNvSpPr txBox="1"/>
          <p:nvPr/>
        </p:nvSpPr>
        <p:spPr>
          <a:xfrm>
            <a:off x="942975" y="2405948"/>
            <a:ext cx="10658475" cy="36731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Theme: Good Health and Well-Being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Category: Software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Number: 11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 Gaurav Kshirsagar, Prajwal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Dhanawade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Tarun Pandey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 Dr. Rahul Ambedkar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214565-9AA2-4700-B6D8-EBDE0B33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 2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B60473-2CAB-41E8-A5B8-2FC3D587C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333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AA590-B12C-40B4-9FEF-1163414A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308B0-8C32-4BC4-9160-3BE586FC6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30"/>
            <a:ext cx="10515599" cy="494823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US" sz="2200" dirty="0"/>
              <a:t>In today’s fast-paced lifestyle, people consume food without knowing its </a:t>
            </a:r>
            <a:r>
              <a:rPr lang="en-US" sz="2200" b="1" dirty="0"/>
              <a:t>nutritional value</a:t>
            </a:r>
            <a:r>
              <a:rPr lang="en-US" sz="2200" dirty="0"/>
              <a:t>, leading to lifestyle diseases such as obesity, diabetes, and malnutrition. Maintaining a balanced diet has become difficult due to lack of awareness and real-time nutritional guidance.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2200" dirty="0"/>
              <a:t>Manual calorie tracking is time-consuming and inconvenient.</a:t>
            </a:r>
            <a:endParaRPr lang="en-US" sz="2200" b="1" dirty="0"/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2200" dirty="0"/>
              <a:t>People lack awareness of their daily nutritional intake and personalized guidance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2200" dirty="0"/>
              <a:t>Detects food from images and estimates nutrition automatically.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2200" dirty="0"/>
              <a:t>Provides smart recommendations to promote healthy living (SDG 3).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4111F-2AA5-4F70-8EC5-CA7BB5FD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Mini Project Review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C5B87-1FBA-49DD-A74F-05EB7C0F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223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AA590-B12C-40B4-9FEF-1163414A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Sustainable Development Goal: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4111F-2AA5-4F70-8EC5-CA7BB5FD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Mini Project Review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C5B87-1FBA-49DD-A74F-05EB7C0F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pPr/>
              <a:t>3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AA77C2-D51D-7ED2-FB88-AE07CAFFB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002" y="1525976"/>
            <a:ext cx="4785998" cy="3806047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7B04081A-3CAE-7E43-FCC4-54BD5CA95F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25976"/>
            <a:ext cx="7672310" cy="33324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SDG 3 (Health):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Promotes healthy eating and preventive care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SDG 2 (Zero Hunger):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Improves nutritional awareness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SDG 9 (Innovation):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Uses AI for real-time food analysis</a:t>
            </a:r>
          </a:p>
          <a:p>
            <a:pPr marL="0" marR="0" lvl="0" indent="0" algn="just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SDG 12 (Consumption):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Encourages mindful eating habits</a:t>
            </a:r>
          </a:p>
        </p:txBody>
      </p:sp>
    </p:spTree>
    <p:extLst>
      <p:ext uri="{BB962C8B-B14F-4D97-AF65-F5344CB8AC3E}">
        <p14:creationId xmlns:p14="http://schemas.microsoft.com/office/powerpoint/2010/main" val="3346593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AA590-B12C-40B4-9FEF-1163414A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4111F-2AA5-4F70-8EC5-CA7BB5FD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Mini Project Review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C5B87-1FBA-49DD-A74F-05EB7C0F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pPr/>
              <a:t>4</a:t>
            </a:fld>
            <a:endParaRPr lang="en-IN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0ECD05A3-2435-44B2-BC3F-E1407A635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3769164"/>
              </p:ext>
            </p:extLst>
          </p:nvPr>
        </p:nvGraphicFramePr>
        <p:xfrm>
          <a:off x="532435" y="952110"/>
          <a:ext cx="10821365" cy="5795001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2187616">
                  <a:extLst>
                    <a:ext uri="{9D8B030D-6E8A-4147-A177-3AD203B41FA5}">
                      <a16:colId xmlns:a16="http://schemas.microsoft.com/office/drawing/2014/main" val="610998625"/>
                    </a:ext>
                  </a:extLst>
                </a:gridCol>
                <a:gridCol w="1689903">
                  <a:extLst>
                    <a:ext uri="{9D8B030D-6E8A-4147-A177-3AD203B41FA5}">
                      <a16:colId xmlns:a16="http://schemas.microsoft.com/office/drawing/2014/main" val="3412370977"/>
                    </a:ext>
                  </a:extLst>
                </a:gridCol>
                <a:gridCol w="4120588">
                  <a:extLst>
                    <a:ext uri="{9D8B030D-6E8A-4147-A177-3AD203B41FA5}">
                      <a16:colId xmlns:a16="http://schemas.microsoft.com/office/drawing/2014/main" val="4078034592"/>
                    </a:ext>
                  </a:extLst>
                </a:gridCol>
                <a:gridCol w="2823258">
                  <a:extLst>
                    <a:ext uri="{9D8B030D-6E8A-4147-A177-3AD203B41FA5}">
                      <a16:colId xmlns:a16="http://schemas.microsoft.com/office/drawing/2014/main" val="313881985"/>
                    </a:ext>
                  </a:extLst>
                </a:gridCol>
              </a:tblGrid>
              <a:tr h="6230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Conference / Journal Details</a:t>
                      </a:r>
                      <a:endParaRPr lang="en-IN" sz="16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Key Points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Improvements Proposed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44298548"/>
                  </a:ext>
                </a:extLst>
              </a:tr>
              <a:tr h="1469611"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/>
                        <a:t>[1]</a:t>
                      </a:r>
                      <a:r>
                        <a:rPr lang="en-US" sz="1600" dirty="0"/>
                        <a:t>Food Image Recognition Using Deep Learning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/>
                        <a:t>Published in 2019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ts val="24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Uses CNN for food classification. Focuses mainly on image recognition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/>
                        <a:t>Integrate portion counting and calorie estimation. Integrate with personalized health recommendation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0932709"/>
                  </a:ext>
                </a:extLst>
              </a:tr>
              <a:tr h="725085"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/>
                        <a:t>[2]Calorie Estimation from Food Images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Published in 2020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ts val="2400"/>
                        </a:lnSpc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fr-FR" sz="1600" dirty="0"/>
                        <a:t>Uses image segmentation for portion estimation. </a:t>
                      </a:r>
                      <a:r>
                        <a:rPr lang="en-IN" sz="1600" dirty="0"/>
                        <a:t>Requires controlled image conditions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/>
                        <a:t>Use object detection (YOLO) for real-time detection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2138213"/>
                  </a:ext>
                </a:extLst>
              </a:tr>
              <a:tr h="973260"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[3]</a:t>
                      </a:r>
                      <a:r>
                        <a:rPr lang="en-IN" sz="1600" dirty="0"/>
                        <a:t> Mobile-Based Diet Monitoring System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/>
                        <a:t>Published in 2021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ts val="24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Relies on manual food entry. </a:t>
                      </a:r>
                      <a:r>
                        <a:rPr lang="en-IN" sz="1600" dirty="0"/>
                        <a:t>No automatic image recognition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/>
                        <a:t>Reduce manual effort. Provide smart ML-based recommendation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15124275"/>
                  </a:ext>
                </a:extLst>
              </a:tr>
              <a:tr h="725085"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/>
                        <a:t>[4] AI-Based Personalized Diet Recommendation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Published in 2022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ts val="24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IN" sz="1600" dirty="0"/>
                        <a:t>Depends on structured dataset. </a:t>
                      </a:r>
                      <a:r>
                        <a:rPr lang="en-US" sz="1600" dirty="0"/>
                        <a:t>Predicts diet categories based on user data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/>
                        <a:t>Automatically generate dataset from food intake. Improve prediction using real user history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2501551"/>
                  </a:ext>
                </a:extLst>
              </a:tr>
              <a:tr h="643259"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IN" sz="16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[5]</a:t>
                      </a:r>
                      <a:r>
                        <a:rPr lang="en-US" sz="1600" dirty="0"/>
                        <a:t> YOLO for Real-Time Object Detection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ts val="2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/>
                        <a:t>Published in 2022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>
                        <a:lnSpc>
                          <a:spcPts val="2400"/>
                        </a:lnSpc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High speed and good accuracy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4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/>
                        <a:t>Fine-tune YOLO for food-specific dataset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89748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9650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AA590-B12C-40B4-9FEF-1163414A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 in Existing Systems: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308B0-8C32-4BC4-9160-3BE586FC6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30"/>
            <a:ext cx="10515599" cy="4948233"/>
          </a:xfrm>
        </p:spPr>
        <p:txBody>
          <a:bodyPr>
            <a:normAutofit/>
          </a:bodyPr>
          <a:lstStyle/>
          <a:p>
            <a:pPr algn="just">
              <a:lnSpc>
                <a:spcPts val="32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2200" dirty="0"/>
              <a:t>Heavy dependency on manual calorie logging.</a:t>
            </a:r>
          </a:p>
          <a:p>
            <a:pPr algn="just">
              <a:lnSpc>
                <a:spcPts val="3200"/>
              </a:lnSpc>
              <a:spcBef>
                <a:spcPts val="0"/>
              </a:spcBef>
              <a:spcAft>
                <a:spcPts val="1800"/>
              </a:spcAft>
            </a:pPr>
            <a:r>
              <a:rPr lang="en-IN" sz="2200" dirty="0"/>
              <a:t>Inaccurate portion size and macro-nutrient estimation.</a:t>
            </a:r>
          </a:p>
          <a:p>
            <a:pPr algn="just">
              <a:lnSpc>
                <a:spcPts val="32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2200" dirty="0"/>
              <a:t>Lack of personalized dietary recommendations</a:t>
            </a:r>
          </a:p>
          <a:p>
            <a:pPr algn="just">
              <a:lnSpc>
                <a:spcPts val="32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2200" dirty="0"/>
              <a:t>Separate systems for detection and recommendation (not integrated).</a:t>
            </a:r>
          </a:p>
          <a:p>
            <a:pPr algn="just">
              <a:lnSpc>
                <a:spcPts val="32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sz="2200" dirty="0"/>
              <a:t>Performance drops when dataset is too small or too high or imbalanced.</a:t>
            </a:r>
          </a:p>
          <a:p>
            <a:pPr algn="just">
              <a:lnSpc>
                <a:spcPts val="3200"/>
              </a:lnSpc>
              <a:spcBef>
                <a:spcPts val="0"/>
              </a:spcBef>
              <a:spcAft>
                <a:spcPts val="1800"/>
              </a:spcAft>
            </a:pPr>
            <a:endParaRPr lang="en-US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4111F-2AA5-4F70-8EC5-CA7BB5FD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Mini Project Review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C5B87-1FBA-49DD-A74F-05EB7C0F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862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AA590-B12C-40B4-9FEF-1163414A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308B0-8C32-4BC4-9160-3BE586FC6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5864"/>
            <a:ext cx="10515599" cy="5451099"/>
          </a:xfrm>
        </p:spPr>
        <p:txBody>
          <a:bodyPr lIns="540000" tIns="0" rIns="540000" bIns="360000" anchor="ctr"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/>
              <a:t>Many people are unaware of the actual nutritional value of the food they consume daily. Existing calorie-tracking applications require manual entry of food names and portion sizes, which is time-consuming and often inaccurate. This makes it difficult for individuals to consistently monitor their dietary intake and maintain a balanced diet. Therefore, there is a need for an intelligent, automated system that can detect food items directly from images and estimate their nutritional values to support healthier lifestyle decisions.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4111F-2AA5-4F70-8EC5-CA7BB5FD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Mini Project Review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C5B87-1FBA-49DD-A74F-05EB7C0F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144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AA590-B12C-40B4-9FEF-1163414A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System: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4111F-2AA5-4F70-8EC5-CA7BB5FD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Mini Project Review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C5B87-1FBA-49DD-A74F-05EB7C0F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pPr/>
              <a:t>7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78B15B-9613-D9C0-B5B7-77E71BBC4F7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308764" y="136517"/>
            <a:ext cx="6923807" cy="6179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754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19F47-F2A9-7604-B504-9F8795B10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889" y="527900"/>
            <a:ext cx="11001080" cy="5649063"/>
          </a:xfrm>
        </p:spPr>
        <p:txBody>
          <a:bodyPr>
            <a:normAutofit/>
          </a:bodyPr>
          <a:lstStyle/>
          <a:p>
            <a:r>
              <a:rPr lang="en-US" dirty="0"/>
              <a:t>User provides input either through </a:t>
            </a:r>
            <a:r>
              <a:rPr lang="en-US" b="1" dirty="0"/>
              <a:t>Image Upload</a:t>
            </a:r>
            <a:r>
              <a:rPr lang="en-US" dirty="0"/>
              <a:t> or </a:t>
            </a:r>
            <a:r>
              <a:rPr lang="en-US" b="1" dirty="0"/>
              <a:t>Manual Entry</a:t>
            </a:r>
            <a:r>
              <a:rPr lang="en-US" dirty="0"/>
              <a:t>.</a:t>
            </a:r>
          </a:p>
          <a:p>
            <a:r>
              <a:rPr lang="en-US" dirty="0"/>
              <a:t>Image input is processed using </a:t>
            </a:r>
            <a:r>
              <a:rPr lang="en-US" b="1" dirty="0"/>
              <a:t>YOLO model</a:t>
            </a:r>
            <a:r>
              <a:rPr lang="en-US" dirty="0"/>
              <a:t> to detect food labels and counts.</a:t>
            </a:r>
          </a:p>
          <a:p>
            <a:r>
              <a:rPr lang="en-US" dirty="0"/>
              <a:t>Manual input directly captures food name and quantity.</a:t>
            </a:r>
          </a:p>
          <a:p>
            <a:r>
              <a:rPr lang="en-US" dirty="0"/>
              <a:t>Detected food items are mapped to a </a:t>
            </a:r>
            <a:r>
              <a:rPr lang="en-US" b="1" dirty="0"/>
              <a:t>Nutrition Reference Dataset</a:t>
            </a:r>
            <a:r>
              <a:rPr lang="en-US" dirty="0"/>
              <a:t> containing protein, carbohydrates, fat and sugar values. This is a stable dataset</a:t>
            </a:r>
          </a:p>
          <a:p>
            <a:r>
              <a:rPr lang="en-US" dirty="0"/>
              <a:t>Total calories are calculated using the formula:</a:t>
            </a:r>
            <a:br>
              <a:rPr lang="en-US" dirty="0"/>
            </a:br>
            <a:r>
              <a:rPr lang="en-US" b="1" dirty="0"/>
              <a:t>Calories = (Protein × 4) + (Carbohydrates × 4) + (Fat × 9)</a:t>
            </a:r>
            <a:endParaRPr lang="en-US" dirty="0"/>
          </a:p>
          <a:p>
            <a:r>
              <a:rPr lang="en-US" dirty="0"/>
              <a:t>Final output provides a </a:t>
            </a:r>
            <a:r>
              <a:rPr lang="en-US" b="1" dirty="0"/>
              <a:t>dietary recommendation.</a:t>
            </a:r>
            <a:endParaRPr lang="en-US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CC877C-E98F-0FFC-29B2-FB170E5B3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Mini Project Review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376C5-C3FF-38D2-8EBB-0C7C1A1DF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570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642AC-0503-45C7-BE16-CF058F59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Experimental Setup: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0CD50-53DE-46EA-AAD4-69E599DB5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8730"/>
            <a:ext cx="7315200" cy="4948233"/>
          </a:xfrm>
        </p:spPr>
        <p:txBody>
          <a:bodyPr>
            <a:normAutofit/>
          </a:bodyPr>
          <a:lstStyle/>
          <a:p>
            <a:pPr algn="just">
              <a:lnSpc>
                <a:spcPts val="2200"/>
              </a:lnSpc>
              <a:spcBef>
                <a:spcPts val="0"/>
              </a:spcBef>
              <a:spcAft>
                <a:spcPts val="600"/>
              </a:spcAft>
            </a:pPr>
            <a:r>
              <a:rPr lang="en-IN" b="1" dirty="0"/>
              <a:t>Frontend:</a:t>
            </a:r>
          </a:p>
          <a:p>
            <a:pPr lvl="1" algn="just">
              <a:lnSpc>
                <a:spcPts val="2200"/>
              </a:lnSpc>
              <a:spcBef>
                <a:spcPts val="0"/>
              </a:spcBef>
              <a:spcAft>
                <a:spcPts val="600"/>
              </a:spcAft>
            </a:pPr>
            <a:r>
              <a:rPr lang="en-IN" b="1" dirty="0"/>
              <a:t>React:</a:t>
            </a:r>
            <a:r>
              <a:rPr lang="en-IN" dirty="0"/>
              <a:t> </a:t>
            </a:r>
            <a:r>
              <a:rPr lang="en-US" dirty="0"/>
              <a:t>Sends input data to backend API and displays results.</a:t>
            </a:r>
          </a:p>
          <a:p>
            <a:pPr marL="203400" lvl="1" indent="0" algn="just">
              <a:lnSpc>
                <a:spcPts val="22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dirty="0"/>
              <a:t>               Handles image upload and manual food entry.</a:t>
            </a:r>
            <a:endParaRPr lang="en-IN" dirty="0"/>
          </a:p>
          <a:p>
            <a:pPr algn="just">
              <a:lnSpc>
                <a:spcPts val="2200"/>
              </a:lnSpc>
              <a:spcBef>
                <a:spcPts val="0"/>
              </a:spcBef>
              <a:spcAft>
                <a:spcPts val="600"/>
              </a:spcAft>
            </a:pPr>
            <a:r>
              <a:rPr lang="en-IN" b="1" dirty="0"/>
              <a:t>Backend:</a:t>
            </a:r>
            <a:endParaRPr lang="en-IN" sz="3200" b="1" dirty="0"/>
          </a:p>
          <a:p>
            <a:pPr lvl="1" algn="just">
              <a:lnSpc>
                <a:spcPts val="2200"/>
              </a:lnSpc>
              <a:spcBef>
                <a:spcPts val="0"/>
              </a:spcBef>
              <a:spcAft>
                <a:spcPts val="600"/>
              </a:spcAft>
            </a:pPr>
            <a:r>
              <a:rPr lang="en-IN" b="1" dirty="0"/>
              <a:t>Python (Flask): </a:t>
            </a:r>
            <a:r>
              <a:rPr lang="en-US" dirty="0"/>
              <a:t>Handles API requests and model integration.</a:t>
            </a:r>
            <a:endParaRPr lang="en-IN" dirty="0"/>
          </a:p>
          <a:p>
            <a:pPr lvl="1" algn="just">
              <a:lnSpc>
                <a:spcPts val="2200"/>
              </a:lnSpc>
              <a:spcBef>
                <a:spcPts val="0"/>
              </a:spcBef>
              <a:spcAft>
                <a:spcPts val="600"/>
              </a:spcAft>
            </a:pPr>
            <a:r>
              <a:rPr lang="en-IN" b="1" dirty="0"/>
              <a:t>YOLOv8 (</a:t>
            </a:r>
            <a:r>
              <a:rPr lang="en-IN" b="1" dirty="0" err="1"/>
              <a:t>Ultralytics</a:t>
            </a:r>
            <a:r>
              <a:rPr lang="en-IN" b="1" dirty="0"/>
              <a:t>):</a:t>
            </a:r>
            <a:r>
              <a:rPr lang="en-IN" dirty="0"/>
              <a:t> </a:t>
            </a:r>
            <a:r>
              <a:rPr lang="en-US" dirty="0"/>
              <a:t>Performs food detection and counting.</a:t>
            </a:r>
          </a:p>
          <a:p>
            <a:pPr lvl="1" algn="just">
              <a:lnSpc>
                <a:spcPts val="2200"/>
              </a:lnSpc>
              <a:spcBef>
                <a:spcPts val="0"/>
              </a:spcBef>
              <a:spcAft>
                <a:spcPts val="600"/>
              </a:spcAft>
            </a:pPr>
            <a:r>
              <a:rPr lang="en-IN" b="1" dirty="0"/>
              <a:t>Firebase:</a:t>
            </a:r>
            <a:r>
              <a:rPr lang="en-IN" dirty="0"/>
              <a:t> Database.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2E3978-C502-4F84-84D4-48C27758D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Mini Project Review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8A2F3D-E2B2-4822-BFC9-C0BE9A1E1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t>9</a:t>
            </a:fld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06C1842-8D39-37E8-9F09-D5321BC45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1620" y="426986"/>
            <a:ext cx="3563960" cy="566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65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AA590-B12C-40B4-9FEF-1163414A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4111F-2AA5-4F70-8EC5-CA7BB5FD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Mini Project Review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C5B87-1FBA-49DD-A74F-05EB7C0F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B5A8F42-35DB-778F-8621-5BCD267F17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786" y="1228730"/>
            <a:ext cx="10281117" cy="476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989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1F28733-D199-59B3-6DCC-D798D6F9C5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672" y="683512"/>
            <a:ext cx="10852128" cy="504595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6950B4-2D2B-3A1F-3EB3-102C9111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Mini Project Review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BCED5B-A0C0-22D1-3947-99C987267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644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AF14924-8EC4-F9B3-CC65-85F216A30F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1935" y="964838"/>
            <a:ext cx="9788130" cy="457638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1D602A-69E2-AB1F-D6CB-F4B013653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Mini Project Review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F03F7-9123-89D0-9B06-0E224C746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648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42480D-76B0-9F7A-090E-F4AC064C93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714" y="473315"/>
            <a:ext cx="11782572" cy="549922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C7C647-2168-FF34-A895-681ADDB79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Mini Project Review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34F774-A344-448B-49EF-8319AA036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697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AA590-B12C-40B4-9FEF-1163414A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4111F-2AA5-4F70-8EC5-CA7BB5FD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Mini Project Review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C5B87-1FBA-49DD-A74F-05EB7C0F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847C00-B06C-4DC0-A36B-79D8CD84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ts val="34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dirty="0"/>
              <a:t>The AI-based Nutrition Estimation System enables </a:t>
            </a:r>
            <a:r>
              <a:rPr lang="en-US" b="1" dirty="0"/>
              <a:t>automatic food detection and calorie calculation</a:t>
            </a:r>
            <a:r>
              <a:rPr lang="en-US" dirty="0"/>
              <a:t> using image recognition.</a:t>
            </a:r>
            <a:endParaRPr lang="en-US" b="1" dirty="0"/>
          </a:p>
          <a:p>
            <a:pPr algn="just">
              <a:lnSpc>
                <a:spcPts val="34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dirty="0"/>
              <a:t>It reduces </a:t>
            </a:r>
            <a:r>
              <a:rPr lang="en-US" b="1" dirty="0"/>
              <a:t>manual effort in tracking nutrition</a:t>
            </a:r>
            <a:r>
              <a:rPr lang="en-US" dirty="0"/>
              <a:t> by providing instant macronutrient analysis.</a:t>
            </a:r>
          </a:p>
          <a:p>
            <a:pPr algn="just">
              <a:lnSpc>
                <a:spcPts val="34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dirty="0"/>
              <a:t>The system integrates </a:t>
            </a:r>
            <a:r>
              <a:rPr lang="en-US" b="1" dirty="0"/>
              <a:t>YOLO-based food detection and personalized diet plan </a:t>
            </a:r>
            <a:r>
              <a:rPr lang="en-US" dirty="0"/>
              <a:t>to support better dietary decisions.</a:t>
            </a:r>
          </a:p>
          <a:p>
            <a:pPr algn="just">
              <a:lnSpc>
                <a:spcPts val="34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dirty="0"/>
              <a:t>Overall, the project delivers a </a:t>
            </a:r>
            <a:r>
              <a:rPr lang="en-US" b="1" dirty="0"/>
              <a:t>smart, practical, and user-friendly solution</a:t>
            </a:r>
            <a:r>
              <a:rPr lang="en-US" dirty="0"/>
              <a:t> for daily nutrition monitoring.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6488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AA590-B12C-40B4-9FEF-1163414A6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34111F-2AA5-4F70-8EC5-CA7BB5FD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Mini Project Review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2C5B87-1FBA-49DD-A74F-05EB7C0F2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847C00-B06C-4DC0-A36B-79D8CD84E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ts val="34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dirty="0"/>
              <a:t>Integration with </a:t>
            </a:r>
            <a:r>
              <a:rPr lang="en-US" b="1" dirty="0"/>
              <a:t>real-time health devices</a:t>
            </a:r>
            <a:r>
              <a:rPr lang="en-US" dirty="0"/>
              <a:t> (smartwatch, fitness bands).</a:t>
            </a:r>
          </a:p>
          <a:p>
            <a:pPr algn="just">
              <a:lnSpc>
                <a:spcPts val="34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dirty="0"/>
              <a:t>Deployment as a </a:t>
            </a:r>
            <a:r>
              <a:rPr lang="en-US" b="1" dirty="0"/>
              <a:t>mobile application</a:t>
            </a:r>
            <a:r>
              <a:rPr lang="en-US" dirty="0"/>
              <a:t> for wider accessibility.</a:t>
            </a:r>
            <a:endParaRPr lang="en-US" b="1" dirty="0"/>
          </a:p>
          <a:p>
            <a:pPr algn="just">
              <a:lnSpc>
                <a:spcPts val="34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dirty="0"/>
              <a:t>Expansion of dataset with </a:t>
            </a:r>
            <a:r>
              <a:rPr lang="en-US" b="1" dirty="0"/>
              <a:t>more food categories and portion estimation</a:t>
            </a:r>
            <a:r>
              <a:rPr lang="en-US" dirty="0"/>
              <a:t>.</a:t>
            </a:r>
            <a:endParaRPr lang="en-US" b="1" dirty="0"/>
          </a:p>
          <a:p>
            <a:pPr algn="just">
              <a:lnSpc>
                <a:spcPts val="34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dirty="0"/>
              <a:t>Advanced </a:t>
            </a:r>
            <a:r>
              <a:rPr lang="en-US" b="1" dirty="0"/>
              <a:t>personalized diet planning using deep learning models</a:t>
            </a:r>
            <a:r>
              <a:rPr lang="en-US" dirty="0"/>
              <a:t>.</a:t>
            </a:r>
          </a:p>
          <a:p>
            <a:pPr algn="just">
              <a:lnSpc>
                <a:spcPts val="3400"/>
              </a:lnSpc>
              <a:spcBef>
                <a:spcPts val="0"/>
              </a:spcBef>
              <a:spcAft>
                <a:spcPts val="1800"/>
              </a:spcAft>
            </a:pPr>
            <a:r>
              <a:rPr lang="en-US" dirty="0"/>
              <a:t>Cloud deployment for </a:t>
            </a:r>
            <a:r>
              <a:rPr lang="en-US" b="1" dirty="0"/>
              <a:t>scalable user data management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6518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6B386-ECE9-44F7-990B-A3788E69C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Research &amp; References: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CD2C9-1DA3-473E-B8CD-3C5E765FD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28730"/>
            <a:ext cx="11038609" cy="51276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[1] </a:t>
            </a:r>
            <a:r>
              <a:rPr lang="en-US" dirty="0"/>
              <a:t>L. </a:t>
            </a:r>
            <a:r>
              <a:rPr lang="en-US" dirty="0" err="1"/>
              <a:t>Breiman</a:t>
            </a:r>
            <a:r>
              <a:rPr lang="en-US" dirty="0"/>
              <a:t>, "Random Forests," Machine Learning, vol. 45, no. 1, pp. 5–32, 2001, </a:t>
            </a:r>
            <a:r>
              <a:rPr lang="en-US" dirty="0" err="1"/>
              <a:t>doi</a:t>
            </a:r>
            <a:r>
              <a:rPr lang="en-US" dirty="0"/>
              <a:t>: 10.1023/A:1010933404324.</a:t>
            </a:r>
          </a:p>
          <a:p>
            <a:pPr marL="0" indent="0">
              <a:buNone/>
            </a:pPr>
            <a:r>
              <a:rPr lang="en-US" b="1" dirty="0"/>
              <a:t>[2] </a:t>
            </a:r>
            <a:r>
              <a:rPr lang="en-IN" dirty="0"/>
              <a:t>G. </a:t>
            </a:r>
            <a:r>
              <a:rPr lang="en-IN" dirty="0" err="1"/>
              <a:t>Jocher</a:t>
            </a:r>
            <a:r>
              <a:rPr lang="en-IN" dirty="0"/>
              <a:t> et al., "</a:t>
            </a:r>
            <a:r>
              <a:rPr lang="en-IN" dirty="0" err="1"/>
              <a:t>Ultralytics</a:t>
            </a:r>
            <a:r>
              <a:rPr lang="en-IN" dirty="0"/>
              <a:t> YOLOv8," </a:t>
            </a:r>
            <a:r>
              <a:rPr lang="en-IN" dirty="0" err="1"/>
              <a:t>Ultralytics</a:t>
            </a:r>
            <a:r>
              <a:rPr lang="en-IN" dirty="0"/>
              <a:t>, 2023. [Online]. Available: </a:t>
            </a:r>
            <a:r>
              <a:rPr lang="en-IN" dirty="0">
                <a:hlinkClick r:id="rId2"/>
              </a:rPr>
              <a:t>https://docs.ultralytics.com</a:t>
            </a:r>
            <a:endParaRPr lang="en-IN" dirty="0"/>
          </a:p>
          <a:p>
            <a:pPr marL="0" indent="0">
              <a:buNone/>
            </a:pPr>
            <a:r>
              <a:rPr lang="en-US" b="1" dirty="0"/>
              <a:t>[3]</a:t>
            </a:r>
            <a:r>
              <a:rPr lang="en-IN" dirty="0"/>
              <a:t> H. Jiang, C. Xu, and W. Zhao, "</a:t>
            </a:r>
            <a:r>
              <a:rPr lang="en-IN" dirty="0" err="1"/>
              <a:t>DeepFood</a:t>
            </a:r>
            <a:r>
              <a:rPr lang="en-IN" dirty="0"/>
              <a:t>: Food Image Analysis and Dietary Assessment via Deep Model," in Proc. IEEE International Conference on Multimedia and Expo (ICME), 2020, pp. 1–6, </a:t>
            </a:r>
            <a:r>
              <a:rPr lang="en-IN" dirty="0" err="1"/>
              <a:t>doi</a:t>
            </a:r>
            <a:r>
              <a:rPr lang="en-IN" dirty="0"/>
              <a:t>: 10.1109/ICME46284.2020.9102956.</a:t>
            </a:r>
          </a:p>
          <a:p>
            <a:pPr marL="0" indent="0">
              <a:buNone/>
            </a:pPr>
            <a:r>
              <a:rPr lang="en-US" b="1" dirty="0"/>
              <a:t>[4] </a:t>
            </a:r>
            <a:r>
              <a:rPr lang="en-IN" dirty="0"/>
              <a:t>Y. Kawano and K. Yanai, "Real-Time Mobile Food Recognition System," in Proc. IEEE Conference on Computer Vision and Pattern Recognition Workshops (CVPRW), 2013, pp. 1–7.</a:t>
            </a:r>
          </a:p>
          <a:p>
            <a:pPr marL="0" indent="0">
              <a:buNone/>
            </a:pPr>
            <a:r>
              <a:rPr lang="en-US" b="1" dirty="0"/>
              <a:t>[5]</a:t>
            </a:r>
            <a:r>
              <a:rPr lang="en-US" dirty="0"/>
              <a:t>A. Vaswani et al., "Attention Is All You Need," in Advances in Neural Information Processing Systems (</a:t>
            </a:r>
            <a:r>
              <a:rPr lang="en-US" dirty="0" err="1"/>
              <a:t>NeurIPS</a:t>
            </a:r>
            <a:r>
              <a:rPr lang="en-US" dirty="0"/>
              <a:t>), vol. 30, 2017, pp. 5998–6008.</a:t>
            </a: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FF98F-B10F-4E62-9641-76F2DB602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Mini Project Review 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39D44E-8015-439B-9485-B161B669A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AE893-BA06-4F67-8C19-46525B8E0FBB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2314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1602</TotalTime>
  <Words>1012</Words>
  <Application>Microsoft Office PowerPoint</Application>
  <PresentationFormat>Widescreen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Times New Roman</vt:lpstr>
      <vt:lpstr>Office Theme</vt:lpstr>
      <vt:lpstr>PowerPoint Presentation</vt:lpstr>
      <vt:lpstr>Introduction:</vt:lpstr>
      <vt:lpstr>Sustainable Development Goal:</vt:lpstr>
      <vt:lpstr>Literature Survey:</vt:lpstr>
      <vt:lpstr>Limitations in Existing Systems:</vt:lpstr>
      <vt:lpstr>Problem Statement:</vt:lpstr>
      <vt:lpstr>Proposed System:</vt:lpstr>
      <vt:lpstr>PowerPoint Presentation</vt:lpstr>
      <vt:lpstr>Experimental Setup:</vt:lpstr>
      <vt:lpstr>Implementation:</vt:lpstr>
      <vt:lpstr>PowerPoint Presentation</vt:lpstr>
      <vt:lpstr>PowerPoint Presentation</vt:lpstr>
      <vt:lpstr>PowerPoint Presentation</vt:lpstr>
      <vt:lpstr>Conclusion:</vt:lpstr>
      <vt:lpstr>Future Scope:</vt:lpstr>
      <vt:lpstr>Research &amp; References: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apsit</dc:creator>
  <cp:lastModifiedBy>Gaurav Kshirsagar</cp:lastModifiedBy>
  <cp:revision>53</cp:revision>
  <dcterms:created xsi:type="dcterms:W3CDTF">2026-01-11T10:28:42Z</dcterms:created>
  <dcterms:modified xsi:type="dcterms:W3CDTF">2026-03-20T08:35:30Z</dcterms:modified>
</cp:coreProperties>
</file>